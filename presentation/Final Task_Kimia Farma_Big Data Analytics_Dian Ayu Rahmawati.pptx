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ubik Medium"/>
      <p:regular r:id="rId16"/>
      <p:bold r:id="rId17"/>
      <p:italic r:id="rId18"/>
      <p:boldItalic r:id="rId19"/>
    </p:embeddedFont>
    <p:embeddedFont>
      <p:font typeface="Rubik Light"/>
      <p:regular r:id="rId20"/>
      <p:bold r:id="rId21"/>
      <p:italic r:id="rId22"/>
      <p:boldItalic r:id="rId23"/>
    </p:embeddedFont>
    <p:embeddedFont>
      <p:font typeface="Rubik"/>
      <p:regular r:id="rId24"/>
      <p:bold r:id="rId25"/>
      <p:italic r:id="rId26"/>
      <p:boldItalic r:id="rId27"/>
    </p:embeddedFont>
    <p:embeddedFont>
      <p:font typeface="Rubik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2" roundtripDataSignature="AMtx7mhaVFLlC0TKIvm9SI2E6r7Q5dCB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ubikLight-regular.fntdata"/><Relationship Id="rId22" Type="http://schemas.openxmlformats.org/officeDocument/2006/relationships/font" Target="fonts/RubikLight-italic.fntdata"/><Relationship Id="rId21" Type="http://schemas.openxmlformats.org/officeDocument/2006/relationships/font" Target="fonts/RubikLight-bold.fntdata"/><Relationship Id="rId24" Type="http://schemas.openxmlformats.org/officeDocument/2006/relationships/font" Target="fonts/Rubik-regular.fntdata"/><Relationship Id="rId23" Type="http://schemas.openxmlformats.org/officeDocument/2006/relationships/font" Target="fonts/Rubik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ubik-italic.fntdata"/><Relationship Id="rId25" Type="http://schemas.openxmlformats.org/officeDocument/2006/relationships/font" Target="fonts/Rubik-bold.fntdata"/><Relationship Id="rId28" Type="http://schemas.openxmlformats.org/officeDocument/2006/relationships/font" Target="fonts/RubikSemiBold-regular.fntdata"/><Relationship Id="rId27" Type="http://schemas.openxmlformats.org/officeDocument/2006/relationships/font" Target="fonts/Rubik-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SemiBold-boldItalic.fntdata"/><Relationship Id="rId30" Type="http://schemas.openxmlformats.org/officeDocument/2006/relationships/font" Target="fonts/RubikSemiBold-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ubikMedium-bold.fntdata"/><Relationship Id="rId16" Type="http://schemas.openxmlformats.org/officeDocument/2006/relationships/font" Target="fonts/RubikMedium-regular.fntdata"/><Relationship Id="rId19" Type="http://schemas.openxmlformats.org/officeDocument/2006/relationships/font" Target="fonts/RubikMedium-boldItalic.fntdata"/><Relationship Id="rId18" Type="http://schemas.openxmlformats.org/officeDocument/2006/relationships/font" Target="fonts/Rubik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65ee86830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265ee86830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5ee86830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265ee86830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3ec2985a6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3ec2985a68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ec2985a6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3ec2985a68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3ec2985a6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3ec2985a6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3ec2985a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3ec2985a68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10" Type="http://schemas.openxmlformats.org/officeDocument/2006/relationships/hyperlink" Target="https://drive.google.com/file/d/12q5YSFYPWx_D9ixJvWkC5HBWc479M8IR/view?usp=sharing" TargetMode="External"/><Relationship Id="rId9" Type="http://schemas.openxmlformats.org/officeDocument/2006/relationships/hyperlink" Target="https://cert.efset.org/bGYaEE" TargetMode="External"/><Relationship Id="rId5" Type="http://schemas.openxmlformats.org/officeDocument/2006/relationships/hyperlink" Target="https://drive.google.com/file/d/1Mh2fLujxDfqfx0wiLTV8Jbk8c2NjdkEf/view?usp=sharing" TargetMode="External"/><Relationship Id="rId6" Type="http://schemas.openxmlformats.org/officeDocument/2006/relationships/hyperlink" Target="https://drive.google.com/file/d/15QnOz10zSiNkVrzZl1-KNd9snwHmcCzU/view?usp=sharing" TargetMode="External"/><Relationship Id="rId7" Type="http://schemas.openxmlformats.org/officeDocument/2006/relationships/hyperlink" Target="https://drive.google.com/file/d/1rM0nnzgpmOZOVf73r49LzDjK0FVVKEyF/view?usp=sharing" TargetMode="External"/><Relationship Id="rId8" Type="http://schemas.openxmlformats.org/officeDocument/2006/relationships/hyperlink" Target="https://drive.google.com/file/d/1E6l0mqM5O0XsM1y_ZXPYk-l9VlDWxbAn/view?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lookerstudio.google.com/reporting/d2934428-0ba4-47a5-932b-543a0bc492ca" TargetMode="External"/><Relationship Id="rId6" Type="http://schemas.openxmlformats.org/officeDocument/2006/relationships/hyperlink" Target="https://github.com/Diayra9/KimiaFarma-FinalTask-BigDataAnalyst" TargetMode="External"/><Relationship Id="rId7" Type="http://schemas.openxmlformats.org/officeDocument/2006/relationships/hyperlink" Target="https://drive.google.com/file/d/1LWqDjgzi5buS4kSxSKl0HObcm-y47CyG/view?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lookerstudio.google.com/reporting/d2934428-0ba4-47a5-932b-543a0bc492ca" TargetMode="External"/><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349800" y="186500"/>
            <a:ext cx="1399901" cy="541300"/>
          </a:xfrm>
          <a:prstGeom prst="rect">
            <a:avLst/>
          </a:prstGeom>
          <a:noFill/>
          <a:ln>
            <a:noFill/>
          </a:ln>
        </p:spPr>
      </p:pic>
      <p:sp>
        <p:nvSpPr>
          <p:cNvPr id="56" name="Google Shape;56;p1"/>
          <p:cNvSpPr txBox="1"/>
          <p:nvPr/>
        </p:nvSpPr>
        <p:spPr>
          <a:xfrm>
            <a:off x="517900" y="1128025"/>
            <a:ext cx="6239100" cy="20319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lang="en" sz="4000">
                <a:solidFill>
                  <a:schemeClr val="lt1"/>
                </a:solidFill>
                <a:latin typeface="Rubik"/>
                <a:ea typeface="Rubik"/>
                <a:cs typeface="Rubik"/>
                <a:sym typeface="Rubik"/>
              </a:rPr>
              <a:t>Analisis Kinerja Bisnis Kimia Farma</a:t>
            </a:r>
            <a:r>
              <a:rPr b="1" lang="en" sz="4000">
                <a:solidFill>
                  <a:schemeClr val="lt1"/>
                </a:solidFill>
                <a:latin typeface="Rubik"/>
                <a:ea typeface="Rubik"/>
                <a:cs typeface="Rubik"/>
                <a:sym typeface="Rubik"/>
              </a:rPr>
              <a:t> </a:t>
            </a:r>
            <a:r>
              <a:rPr b="1" lang="en" sz="4000">
                <a:solidFill>
                  <a:schemeClr val="lt1"/>
                </a:solidFill>
                <a:latin typeface="Rubik"/>
                <a:ea typeface="Rubik"/>
                <a:cs typeface="Rubik"/>
                <a:sym typeface="Rubik"/>
              </a:rPr>
              <a:t>Tahun 2020-2023</a:t>
            </a:r>
            <a:endParaRPr b="0" i="0" sz="1500" u="none" cap="none" strike="noStrike">
              <a:solidFill>
                <a:schemeClr val="lt1"/>
              </a:solidFill>
              <a:latin typeface="Rubik"/>
              <a:ea typeface="Rubik"/>
              <a:cs typeface="Rubik"/>
              <a:sym typeface="Rubik"/>
            </a:endParaRPr>
          </a:p>
        </p:txBody>
      </p:sp>
      <p:sp>
        <p:nvSpPr>
          <p:cNvPr id="57" name="Google Shape;57;p1"/>
          <p:cNvSpPr txBox="1"/>
          <p:nvPr/>
        </p:nvSpPr>
        <p:spPr>
          <a:xfrm>
            <a:off x="517900" y="3130300"/>
            <a:ext cx="7289100" cy="5388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300" u="none" cap="none" strike="noStrike">
                <a:solidFill>
                  <a:schemeClr val="lt1"/>
                </a:solidFill>
                <a:latin typeface="Rubik SemiBold"/>
                <a:ea typeface="Rubik SemiBold"/>
                <a:cs typeface="Rubik SemiBold"/>
                <a:sym typeface="Rubik SemiBold"/>
              </a:rPr>
              <a:t>Kimia Farma - Big Data Analytics</a:t>
            </a:r>
            <a:endParaRPr b="0" i="0" sz="2300" u="none" cap="none" strike="noStrike">
              <a:solidFill>
                <a:schemeClr val="lt1"/>
              </a:solidFill>
              <a:latin typeface="Rubik SemiBold"/>
              <a:ea typeface="Rubik SemiBold"/>
              <a:cs typeface="Rubik SemiBold"/>
              <a:sym typeface="Rubik SemiBold"/>
            </a:endParaRPr>
          </a:p>
        </p:txBody>
      </p:sp>
      <p:sp>
        <p:nvSpPr>
          <p:cNvPr id="58" name="Google Shape;58;p1"/>
          <p:cNvSpPr/>
          <p:nvPr/>
        </p:nvSpPr>
        <p:spPr>
          <a:xfrm>
            <a:off x="6757125" y="-621925"/>
            <a:ext cx="3135000" cy="30510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4392000" cy="9543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Rubik Light"/>
                <a:ea typeface="Rubik Light"/>
                <a:cs typeface="Rubik Light"/>
                <a:sym typeface="Rubik Light"/>
              </a:rPr>
              <a:t>Presented by</a:t>
            </a:r>
            <a:endParaRPr b="0" i="0" sz="2000" u="none" cap="none" strike="noStrike">
              <a:solidFill>
                <a:schemeClr val="lt1"/>
              </a:solidFill>
              <a:latin typeface="Rubik Light"/>
              <a:ea typeface="Rubik Light"/>
              <a:cs typeface="Rubik Light"/>
              <a:sym typeface="Rubik Light"/>
            </a:endParaRPr>
          </a:p>
          <a:p>
            <a:pPr indent="0" lvl="0" marL="0" marR="0" rtl="0" algn="l">
              <a:lnSpc>
                <a:spcPct val="100000"/>
              </a:lnSpc>
              <a:spcBef>
                <a:spcPts val="0"/>
              </a:spcBef>
              <a:spcAft>
                <a:spcPts val="0"/>
              </a:spcAft>
              <a:buClr>
                <a:srgbClr val="000000"/>
              </a:buClr>
              <a:buSzPts val="2000"/>
              <a:buFont typeface="Arial"/>
              <a:buNone/>
            </a:pPr>
            <a:r>
              <a:rPr lang="en" sz="3000">
                <a:solidFill>
                  <a:schemeClr val="lt1"/>
                </a:solidFill>
                <a:latin typeface="Rubik Light"/>
                <a:ea typeface="Rubik Light"/>
                <a:cs typeface="Rubik Light"/>
                <a:sym typeface="Rubik Light"/>
              </a:rPr>
              <a:t>Dian Ayu Rahmawati</a:t>
            </a:r>
            <a:endParaRPr b="0" i="0" sz="3000" u="none" cap="none" strike="noStrike">
              <a:solidFill>
                <a:schemeClr val="lt1"/>
              </a:solidFill>
              <a:latin typeface="Rubik Light"/>
              <a:ea typeface="Rubik Light"/>
              <a:cs typeface="Rubik Light"/>
              <a:sym typeface="Rubik Light"/>
            </a:endParaRPr>
          </a:p>
        </p:txBody>
      </p:sp>
      <p:pic>
        <p:nvPicPr>
          <p:cNvPr id="61" name="Google Shape;61;p1"/>
          <p:cNvPicPr preferRelativeResize="0"/>
          <p:nvPr/>
        </p:nvPicPr>
        <p:blipFill rotWithShape="1">
          <a:blip r:embed="rId5">
            <a:alphaModFix/>
          </a:blip>
          <a:srcRect b="0" l="0" r="0" t="0"/>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67" name="Google Shape;67;p3"/>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68" name="Google Shape;68;p3"/>
          <p:cNvSpPr/>
          <p:nvPr/>
        </p:nvSpPr>
        <p:spPr>
          <a:xfrm>
            <a:off x="0" y="0"/>
            <a:ext cx="4572000" cy="5143500"/>
          </a:xfrm>
          <a:prstGeom prst="rect">
            <a:avLst/>
          </a:prstGeom>
          <a:solidFill>
            <a:srgbClr val="019FAB">
              <a:alpha val="474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txBox="1"/>
          <p:nvPr/>
        </p:nvSpPr>
        <p:spPr>
          <a:xfrm>
            <a:off x="4867250" y="959175"/>
            <a:ext cx="35046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latin typeface="Rubik SemiBold"/>
                <a:ea typeface="Rubik SemiBold"/>
                <a:cs typeface="Rubik SemiBold"/>
                <a:sym typeface="Rubik SemiBold"/>
              </a:rPr>
              <a:t>Dian Ayu Rahmawati</a:t>
            </a:r>
            <a:endParaRPr b="0" i="0" sz="2000" u="none" cap="none" strike="noStrike">
              <a:solidFill>
                <a:srgbClr val="000000"/>
              </a:solidFill>
              <a:latin typeface="Rubik SemiBold"/>
              <a:ea typeface="Rubik SemiBold"/>
              <a:cs typeface="Rubik SemiBold"/>
              <a:sym typeface="Rubik SemiBold"/>
            </a:endParaRPr>
          </a:p>
        </p:txBody>
      </p:sp>
      <p:sp>
        <p:nvSpPr>
          <p:cNvPr id="70" name="Google Shape;70;p3"/>
          <p:cNvSpPr txBox="1"/>
          <p:nvPr/>
        </p:nvSpPr>
        <p:spPr>
          <a:xfrm>
            <a:off x="4867250" y="1944375"/>
            <a:ext cx="4030200" cy="23088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Halo! Aku Dian Ayu Rahmawati, biasa dipanggil ‘Dian’. Aku, lulusan SMKN 12 Surabaya jurusan Pengembangan Perangkat Lunak dan Gim.</a:t>
            </a:r>
            <a:endParaRPr sz="1200">
              <a:latin typeface="Rubik Medium"/>
              <a:ea typeface="Rubik Medium"/>
              <a:cs typeface="Rubik Medium"/>
              <a:sym typeface="Rubik Medium"/>
            </a:endParaRPr>
          </a:p>
          <a:p>
            <a:pPr indent="0" lvl="0" marL="0" marR="0" rtl="0" algn="l">
              <a:lnSpc>
                <a:spcPct val="150000"/>
              </a:lnSpc>
              <a:spcBef>
                <a:spcPts val="0"/>
              </a:spcBef>
              <a:spcAft>
                <a:spcPts val="0"/>
              </a:spcAft>
              <a:buClr>
                <a:srgbClr val="000000"/>
              </a:buClr>
              <a:buSzPts val="2000"/>
              <a:buFont typeface="Arial"/>
              <a:buNone/>
            </a:pPr>
            <a:r>
              <a:t/>
            </a:r>
            <a:endParaRPr sz="1200">
              <a:latin typeface="Rubik Medium"/>
              <a:ea typeface="Rubik Medium"/>
              <a:cs typeface="Rubik Medium"/>
              <a:sym typeface="Rubik Medium"/>
            </a:endParaRPr>
          </a:p>
          <a:p>
            <a:pPr indent="0" lvl="0" marL="0" marR="0" rtl="0" algn="ctr">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Aku suka dunia data karena seru aja lihat gimana angka bisa bantu ngambil keputusan yang real buat bisnis. Sekarang aku lagi aktif ikut program, bootcamp, dan buat berbagai project</a:t>
            </a:r>
            <a:endParaRPr b="0" i="0" sz="1200" u="none" cap="none" strike="noStrike">
              <a:solidFill>
                <a:srgbClr val="000000"/>
              </a:solidFill>
              <a:latin typeface="Rubik Medium"/>
              <a:ea typeface="Rubik Medium"/>
              <a:cs typeface="Rubik Medium"/>
              <a:sym typeface="Rubik Medium"/>
            </a:endParaRPr>
          </a:p>
        </p:txBody>
      </p:sp>
      <p:sp>
        <p:nvSpPr>
          <p:cNvPr id="71" name="Google Shape;71;p3"/>
          <p:cNvSpPr txBox="1"/>
          <p:nvPr/>
        </p:nvSpPr>
        <p:spPr>
          <a:xfrm>
            <a:off x="1004800" y="3928325"/>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Sawotratap, Gedangan, Sidoarjo, Jawa Timur</a:t>
            </a:r>
            <a:endParaRPr b="0" i="0" sz="1200" u="none" cap="none" strike="noStrike">
              <a:solidFill>
                <a:srgbClr val="000000"/>
              </a:solidFill>
              <a:latin typeface="Rubik Medium"/>
              <a:ea typeface="Rubik Medium"/>
              <a:cs typeface="Rubik Medium"/>
              <a:sym typeface="Rubik Medium"/>
            </a:endParaRPr>
          </a:p>
        </p:txBody>
      </p:sp>
      <p:pic>
        <p:nvPicPr>
          <p:cNvPr id="72" name="Google Shape;72;p3"/>
          <p:cNvPicPr preferRelativeResize="0"/>
          <p:nvPr/>
        </p:nvPicPr>
        <p:blipFill rotWithShape="1">
          <a:blip r:embed="rId5">
            <a:alphaModFix/>
          </a:blip>
          <a:srcRect b="0" l="0" r="0" t="0"/>
          <a:stretch/>
        </p:blipFill>
        <p:spPr>
          <a:xfrm>
            <a:off x="495300" y="3912875"/>
            <a:ext cx="400201" cy="400201"/>
          </a:xfrm>
          <a:prstGeom prst="rect">
            <a:avLst/>
          </a:prstGeom>
          <a:noFill/>
          <a:ln>
            <a:noFill/>
          </a:ln>
        </p:spPr>
      </p:pic>
      <p:pic>
        <p:nvPicPr>
          <p:cNvPr id="73" name="Google Shape;73;p3"/>
          <p:cNvPicPr preferRelativeResize="0"/>
          <p:nvPr/>
        </p:nvPicPr>
        <p:blipFill rotWithShape="1">
          <a:blip r:embed="rId6">
            <a:alphaModFix/>
          </a:blip>
          <a:srcRect b="0" l="0" r="0" t="0"/>
          <a:stretch/>
        </p:blipFill>
        <p:spPr>
          <a:xfrm>
            <a:off x="504096" y="4411877"/>
            <a:ext cx="369300" cy="263511"/>
          </a:xfrm>
          <a:prstGeom prst="rect">
            <a:avLst/>
          </a:prstGeom>
          <a:noFill/>
          <a:ln>
            <a:noFill/>
          </a:ln>
        </p:spPr>
      </p:pic>
      <p:sp>
        <p:nvSpPr>
          <p:cNvPr id="74" name="Google Shape;74;p3"/>
          <p:cNvSpPr txBox="1"/>
          <p:nvPr/>
        </p:nvSpPr>
        <p:spPr>
          <a:xfrm>
            <a:off x="1004800" y="4358988"/>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diana.yu0r@gmail.com</a:t>
            </a:r>
            <a:endParaRPr b="0" i="0" sz="1200" u="none" cap="none" strike="noStrike">
              <a:solidFill>
                <a:srgbClr val="000000"/>
              </a:solidFill>
              <a:latin typeface="Rubik Medium"/>
              <a:ea typeface="Rubik Medium"/>
              <a:cs typeface="Rubik Medium"/>
              <a:sym typeface="Rubik Medium"/>
            </a:endParaRPr>
          </a:p>
        </p:txBody>
      </p:sp>
      <p:pic>
        <p:nvPicPr>
          <p:cNvPr id="75" name="Google Shape;75;p3" title="pictures.jpeg"/>
          <p:cNvPicPr preferRelativeResize="0"/>
          <p:nvPr/>
        </p:nvPicPr>
        <p:blipFill rotWithShape="1">
          <a:blip r:embed="rId7">
            <a:alphaModFix/>
          </a:blip>
          <a:srcRect b="0" l="31672" r="17226" t="23699"/>
          <a:stretch/>
        </p:blipFill>
        <p:spPr>
          <a:xfrm>
            <a:off x="1039425" y="556300"/>
            <a:ext cx="2493158" cy="2862900"/>
          </a:xfrm>
          <a:prstGeom prst="rect">
            <a:avLst/>
          </a:prstGeom>
          <a:solidFill>
            <a:schemeClr val="accent4"/>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g265ee868302_0_130"/>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1" name="Google Shape;81;g265ee868302_0_130"/>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82" name="Google Shape;82;g265ee868302_0_130"/>
          <p:cNvSpPr txBox="1"/>
          <p:nvPr/>
        </p:nvSpPr>
        <p:spPr>
          <a:xfrm>
            <a:off x="340500" y="1406350"/>
            <a:ext cx="8653200" cy="2385900"/>
          </a:xfrm>
          <a:prstGeom prst="rect">
            <a:avLst/>
          </a:prstGeom>
          <a:noFill/>
          <a:ln>
            <a:noFill/>
          </a:ln>
        </p:spPr>
        <p:txBody>
          <a:bodyPr anchorCtr="0" anchor="t" bIns="91425" lIns="91425" spcFirstLastPara="1" rIns="91425" wrap="square" tIns="91425">
            <a:spAutoFit/>
          </a:bodyPr>
          <a:lstStyle/>
          <a:p>
            <a:pPr indent="0" lvl="0" marL="0" marR="0" rtl="0" algn="just">
              <a:lnSpc>
                <a:spcPct val="200000"/>
              </a:lnSpc>
              <a:spcBef>
                <a:spcPts val="0"/>
              </a:spcBef>
              <a:spcAft>
                <a:spcPts val="0"/>
              </a:spcAft>
              <a:buClr>
                <a:schemeClr val="dk1"/>
              </a:buClr>
              <a:buSzPts val="1100"/>
              <a:buFont typeface="Arial"/>
              <a:buNone/>
            </a:pPr>
            <a:r>
              <a:rPr b="1" lang="en" sz="1300">
                <a:latin typeface="Rubik"/>
                <a:ea typeface="Rubik"/>
                <a:cs typeface="Rubik"/>
                <a:sym typeface="Rubik"/>
              </a:rPr>
              <a:t>DQLab Study Case Bootcamp Data Analyst with Excel</a:t>
            </a:r>
            <a:r>
              <a:rPr b="1" i="0" lang="en" sz="1300" u="none" cap="none" strike="noStrike">
                <a:solidFill>
                  <a:srgbClr val="000000"/>
                </a:solidFill>
                <a:latin typeface="Rubik"/>
                <a:ea typeface="Rubik"/>
                <a:cs typeface="Rubik"/>
                <a:sym typeface="Rubik"/>
              </a:rPr>
              <a:t> | </a:t>
            </a:r>
            <a:r>
              <a:rPr b="1" lang="en" sz="1300" u="sng">
                <a:solidFill>
                  <a:schemeClr val="hlink"/>
                </a:solidFill>
                <a:latin typeface="Rubik"/>
                <a:ea typeface="Rubik"/>
                <a:cs typeface="Rubik"/>
                <a:sym typeface="Rubik"/>
                <a:hlinkClick r:id="rId5"/>
              </a:rPr>
              <a:t>Link Sertifikat</a:t>
            </a:r>
            <a:r>
              <a:rPr b="1" i="0" lang="en" sz="1300" u="none" cap="none" strike="noStrike">
                <a:solidFill>
                  <a:schemeClr val="accent5"/>
                </a:solidFill>
                <a:latin typeface="Rubik"/>
                <a:ea typeface="Rubik"/>
                <a:cs typeface="Rubik"/>
                <a:sym typeface="Rubik"/>
              </a:rPr>
              <a:t>	</a:t>
            </a:r>
            <a:r>
              <a:rPr b="1" lang="en" sz="1300">
                <a:solidFill>
                  <a:schemeClr val="accent5"/>
                </a:solidFill>
                <a:latin typeface="Rubik"/>
                <a:ea typeface="Rubik"/>
                <a:cs typeface="Rubik"/>
                <a:sym typeface="Rubik"/>
              </a:rPr>
              <a:t>		05 Oktober 2025</a:t>
            </a:r>
            <a:br>
              <a:rPr b="1" i="0" lang="en" sz="1300" u="none" cap="none" strike="noStrike">
                <a:solidFill>
                  <a:schemeClr val="accent5"/>
                </a:solidFill>
                <a:latin typeface="Rubik"/>
                <a:ea typeface="Rubik"/>
                <a:cs typeface="Rubik"/>
                <a:sym typeface="Rubik"/>
              </a:rPr>
            </a:br>
            <a:r>
              <a:rPr b="1" lang="en" sz="1300">
                <a:solidFill>
                  <a:schemeClr val="dk1"/>
                </a:solidFill>
                <a:latin typeface="Rubik"/>
                <a:ea typeface="Rubik"/>
                <a:cs typeface="Rubik"/>
                <a:sym typeface="Rubik"/>
              </a:rPr>
              <a:t>DQLab Mini Bootcamp: Introduction to Data Analyst</a:t>
            </a:r>
            <a:r>
              <a:rPr b="1" i="0" lang="en" sz="1300" u="none" cap="none" strike="noStrike">
                <a:solidFill>
                  <a:schemeClr val="dk1"/>
                </a:solidFill>
                <a:latin typeface="Rubik"/>
                <a:ea typeface="Rubik"/>
                <a:cs typeface="Rubik"/>
                <a:sym typeface="Rubik"/>
              </a:rPr>
              <a:t> | </a:t>
            </a:r>
            <a:r>
              <a:rPr b="1" lang="en" sz="1300" u="sng">
                <a:solidFill>
                  <a:schemeClr val="hlink"/>
                </a:solidFill>
                <a:latin typeface="Rubik"/>
                <a:ea typeface="Rubik"/>
                <a:cs typeface="Rubik"/>
                <a:sym typeface="Rubik"/>
                <a:hlinkClick r:id="rId6"/>
              </a:rPr>
              <a:t>Link Sertifikat</a:t>
            </a:r>
            <a:r>
              <a:rPr b="1" i="0" lang="en" sz="1300" u="none" cap="none" strike="noStrike">
                <a:solidFill>
                  <a:schemeClr val="accent5"/>
                </a:solidFill>
                <a:latin typeface="Rubik"/>
                <a:ea typeface="Rubik"/>
                <a:cs typeface="Rubik"/>
                <a:sym typeface="Rubik"/>
              </a:rPr>
              <a:t>			</a:t>
            </a:r>
            <a:r>
              <a:rPr b="1" lang="en" sz="1300">
                <a:solidFill>
                  <a:schemeClr val="accent5"/>
                </a:solidFill>
                <a:latin typeface="Rubik"/>
                <a:ea typeface="Rubik"/>
                <a:cs typeface="Rubik"/>
                <a:sym typeface="Rubik"/>
              </a:rPr>
              <a:t>Oktober 2025</a:t>
            </a:r>
            <a:br>
              <a:rPr b="1" i="0" lang="en" sz="1300" u="none" cap="none" strike="noStrike">
                <a:solidFill>
                  <a:schemeClr val="accent5"/>
                </a:solidFill>
                <a:latin typeface="Rubik"/>
                <a:ea typeface="Rubik"/>
                <a:cs typeface="Rubik"/>
                <a:sym typeface="Rubik"/>
              </a:rPr>
            </a:br>
            <a:r>
              <a:rPr b="1" lang="en" sz="1300">
                <a:solidFill>
                  <a:schemeClr val="dk1"/>
                </a:solidFill>
                <a:latin typeface="Rubik"/>
                <a:ea typeface="Rubik"/>
                <a:cs typeface="Rubik"/>
                <a:sym typeface="Rubik"/>
              </a:rPr>
              <a:t>MySkill Short Class: Data Visualization with Looker Data Studio</a:t>
            </a:r>
            <a:r>
              <a:rPr b="1" i="0" lang="en" sz="1300" u="none" cap="none" strike="noStrike">
                <a:solidFill>
                  <a:schemeClr val="dk1"/>
                </a:solidFill>
                <a:latin typeface="Rubik"/>
                <a:ea typeface="Rubik"/>
                <a:cs typeface="Rubik"/>
                <a:sym typeface="Rubik"/>
              </a:rPr>
              <a:t> | </a:t>
            </a:r>
            <a:r>
              <a:rPr b="1" lang="en" sz="1300" u="sng">
                <a:solidFill>
                  <a:schemeClr val="hlink"/>
                </a:solidFill>
                <a:latin typeface="Rubik"/>
                <a:ea typeface="Rubik"/>
                <a:cs typeface="Rubik"/>
                <a:sym typeface="Rubik"/>
                <a:hlinkClick r:id="rId7"/>
              </a:rPr>
              <a:t>Link Sertifikat</a:t>
            </a:r>
            <a:r>
              <a:rPr b="1" i="0" lang="en" sz="1300" u="none" cap="none" strike="noStrike">
                <a:solidFill>
                  <a:schemeClr val="accent5"/>
                </a:solidFill>
                <a:latin typeface="Rubik"/>
                <a:ea typeface="Rubik"/>
                <a:cs typeface="Rubik"/>
                <a:sym typeface="Rubik"/>
              </a:rPr>
              <a:t>	</a:t>
            </a:r>
            <a:r>
              <a:rPr b="1" lang="en" sz="1300">
                <a:solidFill>
                  <a:schemeClr val="accent5"/>
                </a:solidFill>
                <a:latin typeface="Rubik"/>
                <a:ea typeface="Rubik"/>
                <a:cs typeface="Rubik"/>
                <a:sym typeface="Rubik"/>
              </a:rPr>
              <a:t>11 September 2025</a:t>
            </a:r>
            <a:br>
              <a:rPr b="1" i="0" lang="en" sz="1400" u="none" cap="none" strike="noStrike">
                <a:solidFill>
                  <a:schemeClr val="accent5"/>
                </a:solidFill>
                <a:latin typeface="Rubik"/>
                <a:ea typeface="Rubik"/>
                <a:cs typeface="Rubik"/>
                <a:sym typeface="Rubik"/>
              </a:rPr>
            </a:br>
            <a:r>
              <a:rPr b="1" lang="en" sz="1300">
                <a:solidFill>
                  <a:schemeClr val="dk1"/>
                </a:solidFill>
                <a:latin typeface="Rubik"/>
                <a:ea typeface="Rubik"/>
                <a:cs typeface="Rubik"/>
                <a:sym typeface="Rubik"/>
              </a:rPr>
              <a:t>RevoU Mini Course: Intro to Data Analyst </a:t>
            </a:r>
            <a:r>
              <a:rPr b="1" i="0" lang="en" sz="1300" u="none" cap="none" strike="noStrike">
                <a:solidFill>
                  <a:schemeClr val="dk1"/>
                </a:solidFill>
                <a:latin typeface="Rubik"/>
                <a:ea typeface="Rubik"/>
                <a:cs typeface="Rubik"/>
                <a:sym typeface="Rubik"/>
              </a:rPr>
              <a:t>| </a:t>
            </a:r>
            <a:r>
              <a:rPr b="1" lang="en" sz="1300" u="sng">
                <a:solidFill>
                  <a:schemeClr val="hlink"/>
                </a:solidFill>
                <a:latin typeface="Rubik"/>
                <a:ea typeface="Rubik"/>
                <a:cs typeface="Rubik"/>
                <a:sym typeface="Rubik"/>
                <a:hlinkClick r:id="rId8"/>
              </a:rPr>
              <a:t>Link Sertifikat</a:t>
            </a:r>
            <a:r>
              <a:rPr b="1" i="0" lang="en" sz="1300" u="none" cap="none" strike="noStrike">
                <a:solidFill>
                  <a:schemeClr val="accent5"/>
                </a:solidFill>
                <a:latin typeface="Rubik"/>
                <a:ea typeface="Rubik"/>
                <a:cs typeface="Rubik"/>
                <a:sym typeface="Rubik"/>
              </a:rPr>
              <a:t>					</a:t>
            </a:r>
            <a:r>
              <a:rPr b="1" lang="en" sz="1300">
                <a:solidFill>
                  <a:schemeClr val="accent5"/>
                </a:solidFill>
                <a:latin typeface="Rubik"/>
                <a:ea typeface="Rubik"/>
                <a:cs typeface="Rubik"/>
                <a:sym typeface="Rubik"/>
              </a:rPr>
              <a:t>22 Agustus 2025</a:t>
            </a:r>
            <a:br>
              <a:rPr b="1" i="0" lang="en" sz="1300" u="none" cap="none" strike="noStrike">
                <a:solidFill>
                  <a:schemeClr val="accent5"/>
                </a:solidFill>
                <a:latin typeface="Rubik"/>
                <a:ea typeface="Rubik"/>
                <a:cs typeface="Rubik"/>
                <a:sym typeface="Rubik"/>
              </a:rPr>
            </a:br>
            <a:r>
              <a:rPr b="1" lang="en" sz="1300">
                <a:solidFill>
                  <a:schemeClr val="dk1"/>
                </a:solidFill>
                <a:latin typeface="Rubik"/>
                <a:ea typeface="Rubik"/>
                <a:cs typeface="Rubik"/>
                <a:sym typeface="Rubik"/>
              </a:rPr>
              <a:t>EF SET Certificate </a:t>
            </a:r>
            <a:r>
              <a:rPr b="1" i="0" lang="en" sz="1300" u="none" cap="none" strike="noStrike">
                <a:solidFill>
                  <a:schemeClr val="dk1"/>
                </a:solidFill>
                <a:latin typeface="Rubik"/>
                <a:ea typeface="Rubik"/>
                <a:cs typeface="Rubik"/>
                <a:sym typeface="Rubik"/>
              </a:rPr>
              <a:t>| </a:t>
            </a:r>
            <a:r>
              <a:rPr b="1" lang="en" sz="1300" u="sng">
                <a:solidFill>
                  <a:schemeClr val="hlink"/>
                </a:solidFill>
                <a:latin typeface="Rubik"/>
                <a:ea typeface="Rubik"/>
                <a:cs typeface="Rubik"/>
                <a:sym typeface="Rubik"/>
                <a:hlinkClick r:id="rId9"/>
              </a:rPr>
              <a:t>Link Sertifikat</a:t>
            </a:r>
            <a:r>
              <a:rPr b="1" i="0" lang="en" sz="1300" u="none" cap="none" strike="noStrike">
                <a:solidFill>
                  <a:schemeClr val="accent5"/>
                </a:solidFill>
                <a:latin typeface="Rubik"/>
                <a:ea typeface="Rubik"/>
                <a:cs typeface="Rubik"/>
                <a:sym typeface="Rubik"/>
              </a:rPr>
              <a:t>						</a:t>
            </a:r>
            <a:r>
              <a:rPr b="1" lang="en" sz="1300">
                <a:solidFill>
                  <a:schemeClr val="accent5"/>
                </a:solidFill>
                <a:latin typeface="Rubik"/>
                <a:ea typeface="Rubik"/>
                <a:cs typeface="Rubik"/>
                <a:sym typeface="Rubik"/>
              </a:rPr>
              <a:t>			1 Agustus 2025</a:t>
            </a:r>
            <a:endParaRPr b="1" sz="1300">
              <a:solidFill>
                <a:schemeClr val="accent5"/>
              </a:solidFill>
              <a:latin typeface="Rubik"/>
              <a:ea typeface="Rubik"/>
              <a:cs typeface="Rubik"/>
              <a:sym typeface="Rubik"/>
            </a:endParaRPr>
          </a:p>
          <a:p>
            <a:pPr indent="0" lvl="0" marL="0" rtl="0" algn="just">
              <a:lnSpc>
                <a:spcPct val="200000"/>
              </a:lnSpc>
              <a:spcBef>
                <a:spcPts val="0"/>
              </a:spcBef>
              <a:spcAft>
                <a:spcPts val="0"/>
              </a:spcAft>
              <a:buClr>
                <a:schemeClr val="dk1"/>
              </a:buClr>
              <a:buSzPts val="1100"/>
              <a:buFont typeface="Arial"/>
              <a:buNone/>
            </a:pPr>
            <a:r>
              <a:rPr b="1" lang="en" sz="1300">
                <a:solidFill>
                  <a:schemeClr val="dk1"/>
                </a:solidFill>
                <a:latin typeface="Rubik"/>
                <a:ea typeface="Rubik"/>
                <a:cs typeface="Rubik"/>
                <a:sym typeface="Rubik"/>
              </a:rPr>
              <a:t>Digitalent Intermediate Junior Web Developer</a:t>
            </a:r>
            <a:r>
              <a:rPr b="1" lang="en" sz="1300">
                <a:solidFill>
                  <a:schemeClr val="dk1"/>
                </a:solidFill>
                <a:latin typeface="Rubik"/>
                <a:ea typeface="Rubik"/>
                <a:cs typeface="Rubik"/>
                <a:sym typeface="Rubik"/>
              </a:rPr>
              <a:t> | </a:t>
            </a:r>
            <a:r>
              <a:rPr b="1" lang="en" sz="1300" u="sng">
                <a:solidFill>
                  <a:schemeClr val="hlink"/>
                </a:solidFill>
                <a:latin typeface="Rubik"/>
                <a:ea typeface="Rubik"/>
                <a:cs typeface="Rubik"/>
                <a:sym typeface="Rubik"/>
                <a:hlinkClick r:id="rId10"/>
              </a:rPr>
              <a:t>Link Sertifikat</a:t>
            </a:r>
            <a:r>
              <a:rPr b="1" lang="en" sz="1300">
                <a:solidFill>
                  <a:schemeClr val="accent5"/>
                </a:solidFill>
                <a:latin typeface="Rubik"/>
                <a:ea typeface="Rubik"/>
                <a:cs typeface="Rubik"/>
                <a:sym typeface="Rubik"/>
              </a:rPr>
              <a:t>				September 2025</a:t>
            </a:r>
            <a:endParaRPr b="1" sz="1300">
              <a:solidFill>
                <a:schemeClr val="accent5"/>
              </a:solidFill>
              <a:latin typeface="Rubik"/>
              <a:ea typeface="Rubik"/>
              <a:cs typeface="Rubik"/>
              <a:sym typeface="Rubik"/>
            </a:endParaRPr>
          </a:p>
        </p:txBody>
      </p:sp>
      <p:sp>
        <p:nvSpPr>
          <p:cNvPr id="83" name="Google Shape;83;g265ee868302_0_130"/>
          <p:cNvSpPr txBox="1"/>
          <p:nvPr/>
        </p:nvSpPr>
        <p:spPr>
          <a:xfrm>
            <a:off x="340500" y="452038"/>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Courses and </a:t>
            </a:r>
            <a:r>
              <a:rPr b="1" i="0" lang="en" sz="3000" u="none" cap="none" strike="noStrike">
                <a:solidFill>
                  <a:schemeClr val="accent5"/>
                </a:solidFill>
                <a:latin typeface="Rubik"/>
                <a:ea typeface="Rubik"/>
                <a:cs typeface="Rubik"/>
                <a:sym typeface="Rubik"/>
              </a:rPr>
              <a:t>Certification</a:t>
            </a:r>
            <a:endParaRPr b="1" i="0" sz="3000" u="none" cap="none" strike="noStrike">
              <a:solidFill>
                <a:schemeClr val="accent5"/>
              </a:solidFill>
              <a:latin typeface="Rubik"/>
              <a:ea typeface="Rubik"/>
              <a:cs typeface="Rubik"/>
              <a:sym typeface="Rubi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4"/>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9" name="Google Shape;89;p4"/>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0" name="Google Shape;90;p4"/>
          <p:cNvSpPr txBox="1"/>
          <p:nvPr/>
        </p:nvSpPr>
        <p:spPr>
          <a:xfrm>
            <a:off x="340500" y="1406350"/>
            <a:ext cx="5314800" cy="253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200">
                <a:latin typeface="Rubik"/>
                <a:ea typeface="Rubik"/>
                <a:cs typeface="Rubik"/>
                <a:sym typeface="Rubik"/>
              </a:rPr>
              <a:t>Industri: Farmasi &amp; Retail Apotek</a:t>
            </a:r>
            <a:endParaRPr b="1" sz="1200">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a:latin typeface="Rubik"/>
                <a:ea typeface="Rubik"/>
                <a:cs typeface="Rubik"/>
                <a:sym typeface="Rubik"/>
              </a:rPr>
              <a:t>Layanan: Penjualan obat, farmasi, pelayanan kesehatan</a:t>
            </a:r>
            <a:endParaRPr b="1" sz="1200">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t/>
            </a:r>
            <a:endParaRPr b="1" sz="1200">
              <a:latin typeface="Rubik"/>
              <a:ea typeface="Rubik"/>
              <a:cs typeface="Rubik"/>
              <a:sym typeface="Rubik"/>
            </a:endParaRPr>
          </a:p>
          <a:p>
            <a:pPr indent="0" lvl="0" marL="0" rtl="0" algn="l">
              <a:lnSpc>
                <a:spcPct val="115000"/>
              </a:lnSpc>
              <a:spcBef>
                <a:spcPts val="1200"/>
              </a:spcBef>
              <a:spcAft>
                <a:spcPts val="1200"/>
              </a:spcAft>
              <a:buClr>
                <a:schemeClr val="dk1"/>
              </a:buClr>
              <a:buSzPts val="1100"/>
              <a:buFont typeface="Arial"/>
              <a:buNone/>
            </a:pPr>
            <a:r>
              <a:rPr b="1" lang="en" sz="1200">
                <a:latin typeface="Rubik"/>
                <a:ea typeface="Rubik"/>
                <a:cs typeface="Rubik"/>
                <a:sym typeface="Rubik"/>
              </a:rPr>
              <a:t>Kimia Farma adalah salah satu perusahaan farmasi terbesar di Indonesia, dan pastinya kita sering lihat apoteknya di mana-mana. Di project ini, aku menganalisis performa penjualan dan layanan cabang Kimia Farma selama 2020–2023. Targetnya adalah memahami tren bisnis dan insight pelanggan dari data realistik skala enterprise.</a:t>
            </a:r>
            <a:endParaRPr b="1" sz="1200">
              <a:latin typeface="Rubik"/>
              <a:ea typeface="Rubik"/>
              <a:cs typeface="Rubik"/>
              <a:sym typeface="Rubik"/>
            </a:endParaRPr>
          </a:p>
        </p:txBody>
      </p:sp>
      <p:sp>
        <p:nvSpPr>
          <p:cNvPr id="91" name="Google Shape;91;p4"/>
          <p:cNvSpPr txBox="1"/>
          <p:nvPr/>
        </p:nvSpPr>
        <p:spPr>
          <a:xfrm>
            <a:off x="340500" y="452038"/>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About </a:t>
            </a:r>
            <a:r>
              <a:rPr b="1" i="0" lang="en" sz="3000" u="none" cap="none" strike="noStrike">
                <a:solidFill>
                  <a:schemeClr val="accent5"/>
                </a:solidFill>
                <a:latin typeface="Rubik"/>
                <a:ea typeface="Rubik"/>
                <a:cs typeface="Rubik"/>
                <a:sym typeface="Rubik"/>
              </a:rPr>
              <a:t>Company</a:t>
            </a:r>
            <a:endParaRPr b="1" i="0" sz="3000" u="none" cap="none" strike="noStrike">
              <a:solidFill>
                <a:schemeClr val="accent5"/>
              </a:solidFill>
              <a:latin typeface="Rubik"/>
              <a:ea typeface="Rubik"/>
              <a:cs typeface="Rubik"/>
              <a:sym typeface="Rubik"/>
            </a:endParaRPr>
          </a:p>
        </p:txBody>
      </p:sp>
      <p:pic>
        <p:nvPicPr>
          <p:cNvPr id="92" name="Google Shape;92;p4"/>
          <p:cNvPicPr preferRelativeResize="0"/>
          <p:nvPr/>
        </p:nvPicPr>
        <p:blipFill rotWithShape="1">
          <a:blip r:embed="rId5">
            <a:alphaModFix/>
          </a:blip>
          <a:srcRect b="0" l="0" r="0" t="0"/>
          <a:stretch/>
        </p:blipFill>
        <p:spPr>
          <a:xfrm>
            <a:off x="5767400" y="2212243"/>
            <a:ext cx="3104925" cy="1115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265ee868302_0_9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98" name="Google Shape;98;g265ee868302_0_9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9" name="Google Shape;99;g265ee868302_0_99"/>
          <p:cNvSpPr txBox="1"/>
          <p:nvPr/>
        </p:nvSpPr>
        <p:spPr>
          <a:xfrm>
            <a:off x="340500" y="1223525"/>
            <a:ext cx="8340300" cy="36942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chemeClr val="dk1"/>
              </a:buClr>
              <a:buSzPts val="1100"/>
              <a:buFont typeface="Arial"/>
              <a:buNone/>
            </a:pPr>
            <a:r>
              <a:rPr b="1" lang="en" sz="1200">
                <a:latin typeface="Rubik"/>
                <a:ea typeface="Rubik"/>
                <a:cs typeface="Rubik"/>
                <a:sym typeface="Rubik"/>
              </a:rPr>
              <a:t>Analisis performa penjualan Kimia Farma (2020–2023)</a:t>
            </a:r>
            <a:endParaRPr b="1" sz="1200">
              <a:latin typeface="Rubik"/>
              <a:ea typeface="Rubik"/>
              <a:cs typeface="Rubik"/>
              <a:sym typeface="Rubik"/>
            </a:endParaRPr>
          </a:p>
          <a:p>
            <a:pPr indent="0" lvl="0" marL="0" rtl="0" algn="just">
              <a:lnSpc>
                <a:spcPct val="150000"/>
              </a:lnSpc>
              <a:spcBef>
                <a:spcPts val="0"/>
              </a:spcBef>
              <a:spcAft>
                <a:spcPts val="0"/>
              </a:spcAft>
              <a:buClr>
                <a:schemeClr val="dk1"/>
              </a:buClr>
              <a:buSzPts val="1100"/>
              <a:buFont typeface="Arial"/>
              <a:buNone/>
            </a:pPr>
            <a:r>
              <a:rPr b="1" lang="en" sz="1200">
                <a:latin typeface="Rubik"/>
                <a:ea typeface="Rubik"/>
                <a:cs typeface="Rubik"/>
                <a:sym typeface="Rubik"/>
              </a:rPr>
              <a:t>Dataset: transaksi, produk, cabang, inventory</a:t>
            </a:r>
            <a:endParaRPr b="1" sz="1200">
              <a:latin typeface="Rubik"/>
              <a:ea typeface="Rubik"/>
              <a:cs typeface="Rubik"/>
              <a:sym typeface="Rubik"/>
            </a:endParaRPr>
          </a:p>
          <a:p>
            <a:pPr indent="0" lvl="0" marL="0" rtl="0" algn="just">
              <a:lnSpc>
                <a:spcPct val="150000"/>
              </a:lnSpc>
              <a:spcBef>
                <a:spcPts val="0"/>
              </a:spcBef>
              <a:spcAft>
                <a:spcPts val="0"/>
              </a:spcAft>
              <a:buClr>
                <a:schemeClr val="dk1"/>
              </a:buClr>
              <a:buSzPts val="1100"/>
              <a:buFont typeface="Arial"/>
              <a:buNone/>
            </a:pPr>
            <a:r>
              <a:rPr b="1" lang="en" sz="1200">
                <a:latin typeface="Rubik"/>
                <a:ea typeface="Rubik"/>
                <a:cs typeface="Rubik"/>
                <a:sym typeface="Rubik"/>
              </a:rPr>
              <a:t>Output:</a:t>
            </a:r>
            <a:br>
              <a:rPr b="1" lang="en" sz="1200">
                <a:latin typeface="Rubik"/>
                <a:ea typeface="Rubik"/>
                <a:cs typeface="Rubik"/>
                <a:sym typeface="Rubik"/>
              </a:rPr>
            </a:br>
            <a:r>
              <a:rPr b="1" lang="en" sz="1200">
                <a:latin typeface="Rubik"/>
                <a:ea typeface="Rubik"/>
                <a:cs typeface="Rubik"/>
                <a:sym typeface="Rubik"/>
              </a:rPr>
              <a:t> ✅ Tabel analisa di BigQuery</a:t>
            </a:r>
            <a:br>
              <a:rPr b="1" lang="en" sz="1200">
                <a:latin typeface="Rubik"/>
                <a:ea typeface="Rubik"/>
                <a:cs typeface="Rubik"/>
                <a:sym typeface="Rubik"/>
              </a:rPr>
            </a:br>
            <a:r>
              <a:rPr b="1" lang="en" sz="1200">
                <a:latin typeface="Rubik"/>
                <a:ea typeface="Rubik"/>
                <a:cs typeface="Rubik"/>
                <a:sym typeface="Rubik"/>
              </a:rPr>
              <a:t> ✅ SQL Query Insights</a:t>
            </a:r>
            <a:br>
              <a:rPr b="1" lang="en" sz="1200">
                <a:latin typeface="Rubik"/>
                <a:ea typeface="Rubik"/>
                <a:cs typeface="Rubik"/>
                <a:sym typeface="Rubik"/>
              </a:rPr>
            </a:br>
            <a:r>
              <a:rPr b="1" lang="en" sz="1200">
                <a:latin typeface="Rubik"/>
                <a:ea typeface="Rubik"/>
                <a:cs typeface="Rubik"/>
                <a:sym typeface="Rubik"/>
              </a:rPr>
              <a:t> ✅ Dashboard Google Looker Studio - </a:t>
            </a:r>
            <a:r>
              <a:rPr b="1" lang="en" sz="1200" u="sng">
                <a:solidFill>
                  <a:schemeClr val="hlink"/>
                </a:solidFill>
                <a:latin typeface="Rubik"/>
                <a:ea typeface="Rubik"/>
                <a:cs typeface="Rubik"/>
                <a:sym typeface="Rubik"/>
                <a:hlinkClick r:id="rId5"/>
              </a:rPr>
              <a:t>Dashboard Dian Ayu</a:t>
            </a:r>
            <a:br>
              <a:rPr b="1" lang="en" sz="1200">
                <a:latin typeface="Rubik"/>
                <a:ea typeface="Rubik"/>
                <a:cs typeface="Rubik"/>
                <a:sym typeface="Rubik"/>
              </a:rPr>
            </a:br>
            <a:r>
              <a:rPr b="1" lang="en" sz="1200">
                <a:latin typeface="Rubik"/>
                <a:ea typeface="Rubik"/>
                <a:cs typeface="Rubik"/>
                <a:sym typeface="Rubik"/>
              </a:rPr>
              <a:t> ✅ GitHub Repo - </a:t>
            </a:r>
            <a:r>
              <a:rPr b="1" lang="en" sz="1200" u="sng">
                <a:solidFill>
                  <a:schemeClr val="hlink"/>
                </a:solidFill>
                <a:latin typeface="Rubik"/>
                <a:ea typeface="Rubik"/>
                <a:cs typeface="Rubik"/>
                <a:sym typeface="Rubik"/>
                <a:hlinkClick r:id="rId6"/>
              </a:rPr>
              <a:t>Repo Link</a:t>
            </a:r>
            <a:endParaRPr b="1" sz="1200">
              <a:latin typeface="Rubik"/>
              <a:ea typeface="Rubik"/>
              <a:cs typeface="Rubik"/>
              <a:sym typeface="Rubik"/>
            </a:endParaRPr>
          </a:p>
          <a:p>
            <a:pPr indent="0" lvl="0" marL="0" rtl="0" algn="just">
              <a:lnSpc>
                <a:spcPct val="150000"/>
              </a:lnSpc>
              <a:spcBef>
                <a:spcPts val="0"/>
              </a:spcBef>
              <a:spcAft>
                <a:spcPts val="0"/>
              </a:spcAft>
              <a:buClr>
                <a:schemeClr val="dk1"/>
              </a:buClr>
              <a:buSzPts val="1100"/>
              <a:buFont typeface="Arial"/>
              <a:buNone/>
            </a:pPr>
            <a:r>
              <a:rPr b="1" lang="en" sz="1200">
                <a:solidFill>
                  <a:schemeClr val="dk1"/>
                </a:solidFill>
                <a:latin typeface="Rubik"/>
                <a:ea typeface="Rubik"/>
                <a:cs typeface="Rubik"/>
                <a:sym typeface="Rubik"/>
              </a:rPr>
              <a:t> ✅ Video Presentasi - </a:t>
            </a:r>
            <a:r>
              <a:rPr b="1" lang="en" sz="1200" u="sng">
                <a:solidFill>
                  <a:schemeClr val="hlink"/>
                </a:solidFill>
                <a:latin typeface="Rubik"/>
                <a:ea typeface="Rubik"/>
                <a:cs typeface="Rubik"/>
                <a:sym typeface="Rubik"/>
                <a:hlinkClick r:id="rId7"/>
              </a:rPr>
              <a:t>Link Video</a:t>
            </a:r>
            <a:endParaRPr b="1" sz="1200">
              <a:latin typeface="Rubik"/>
              <a:ea typeface="Rubik"/>
              <a:cs typeface="Rubik"/>
              <a:sym typeface="Rubik"/>
            </a:endParaRPr>
          </a:p>
          <a:p>
            <a:pPr indent="0" lvl="0" marL="0" marR="0" rtl="0" algn="just">
              <a:lnSpc>
                <a:spcPct val="150000"/>
              </a:lnSpc>
              <a:spcBef>
                <a:spcPts val="0"/>
              </a:spcBef>
              <a:spcAft>
                <a:spcPts val="0"/>
              </a:spcAft>
              <a:buClr>
                <a:schemeClr val="dk1"/>
              </a:buClr>
              <a:buSzPts val="1100"/>
              <a:buFont typeface="Arial"/>
              <a:buNone/>
            </a:pPr>
            <a:r>
              <a:t/>
            </a:r>
            <a:endParaRPr b="1" sz="1200">
              <a:latin typeface="Rubik"/>
              <a:ea typeface="Rubik"/>
              <a:cs typeface="Rubik"/>
              <a:sym typeface="Rubik"/>
            </a:endParaRPr>
          </a:p>
          <a:p>
            <a:pPr indent="0" lvl="0" marL="0" marR="0" rtl="0" algn="just">
              <a:lnSpc>
                <a:spcPct val="150000"/>
              </a:lnSpc>
              <a:spcBef>
                <a:spcPts val="0"/>
              </a:spcBef>
              <a:spcAft>
                <a:spcPts val="0"/>
              </a:spcAft>
              <a:buClr>
                <a:schemeClr val="dk1"/>
              </a:buClr>
              <a:buSzPts val="1100"/>
              <a:buFont typeface="Arial"/>
              <a:buNone/>
            </a:pPr>
            <a:r>
              <a:rPr b="1" lang="en" sz="1200">
                <a:latin typeface="Rubik"/>
                <a:ea typeface="Rubik"/>
                <a:cs typeface="Rubik"/>
                <a:sym typeface="Rubik"/>
              </a:rPr>
              <a:t>Project ini fokus buat nge-explore performa bisnis Kimia Farma dari sisi sales, profit, dan rating customer per cabang. Data yang disediakan mencakup transaksi, info produk, data cabang, dan inventory. Setelah itu, aku bikin data mart di BigQuery, lanjut visualisasi insightnya ke Looker Studio supaya lebih gampang dianalisis.</a:t>
            </a:r>
            <a:endParaRPr b="1" sz="1200">
              <a:latin typeface="Rubik"/>
              <a:ea typeface="Rubik"/>
              <a:cs typeface="Rubik"/>
              <a:sym typeface="Rubik"/>
            </a:endParaRPr>
          </a:p>
        </p:txBody>
      </p:sp>
      <p:sp>
        <p:nvSpPr>
          <p:cNvPr id="100" name="Google Shape;100;g265ee868302_0_99"/>
          <p:cNvSpPr txBox="1"/>
          <p:nvPr/>
        </p:nvSpPr>
        <p:spPr>
          <a:xfrm>
            <a:off x="340500" y="452038"/>
            <a:ext cx="8463000" cy="6465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g23ec2985a68_1_3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06" name="Google Shape;106;g23ec2985a68_1_33"/>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07" name="Google Shape;107;g23ec2985a68_1_33"/>
          <p:cNvSpPr txBox="1"/>
          <p:nvPr/>
        </p:nvSpPr>
        <p:spPr>
          <a:xfrm>
            <a:off x="340500" y="4520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a:pPr>
            <a:r>
              <a:rPr b="1" i="0" lang="en" sz="2700" u="none" cap="none" strike="noStrike">
                <a:solidFill>
                  <a:srgbClr val="000000"/>
                </a:solidFill>
                <a:latin typeface="Rubik"/>
                <a:ea typeface="Rubik"/>
                <a:cs typeface="Rubik"/>
                <a:sym typeface="Rubik"/>
              </a:rPr>
              <a:t>Importing Dataset to BigQuery</a:t>
            </a:r>
            <a:endParaRPr b="1" i="0" sz="2700" u="none" cap="none" strike="noStrike">
              <a:solidFill>
                <a:srgbClr val="000000"/>
              </a:solidFill>
              <a:latin typeface="Rubik"/>
              <a:ea typeface="Rubik"/>
              <a:cs typeface="Rubik"/>
              <a:sym typeface="Rubik"/>
            </a:endParaRPr>
          </a:p>
        </p:txBody>
      </p:sp>
      <p:sp>
        <p:nvSpPr>
          <p:cNvPr id="108" name="Google Shape;108;g23ec2985a68_1_33"/>
          <p:cNvSpPr txBox="1"/>
          <p:nvPr/>
        </p:nvSpPr>
        <p:spPr>
          <a:xfrm>
            <a:off x="340500" y="1335962"/>
            <a:ext cx="8463000" cy="9234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SzPts val="1200"/>
              <a:buFont typeface="Rubik"/>
              <a:buAutoNum type="arabicPeriod"/>
            </a:pPr>
            <a:r>
              <a:rPr b="1" lang="en" sz="1200">
                <a:solidFill>
                  <a:schemeClr val="dk1"/>
                </a:solidFill>
                <a:latin typeface="Rubik"/>
                <a:ea typeface="Rubik"/>
                <a:cs typeface="Rubik"/>
                <a:sym typeface="Rubik"/>
              </a:rPr>
              <a:t>Pertama, semua dataset aku upload ke BigQuery dalam satu dataset bernama </a:t>
            </a:r>
            <a:r>
              <a:rPr b="1" lang="en" sz="1200">
                <a:solidFill>
                  <a:srgbClr val="188038"/>
                </a:solidFill>
                <a:latin typeface="Rubik"/>
                <a:ea typeface="Rubik"/>
                <a:cs typeface="Rubik"/>
                <a:sym typeface="Rubik"/>
              </a:rPr>
              <a:t>kimia_farma</a:t>
            </a:r>
            <a:r>
              <a:rPr b="1" lang="en" sz="1200">
                <a:solidFill>
                  <a:schemeClr val="dk1"/>
                </a:solidFill>
                <a:latin typeface="Rubik"/>
                <a:ea typeface="Rubik"/>
                <a:cs typeface="Rubik"/>
                <a:sym typeface="Rubik"/>
              </a:rPr>
              <a:t>.</a:t>
            </a:r>
            <a:endParaRPr b="1" sz="1200">
              <a:solidFill>
                <a:schemeClr val="dk1"/>
              </a:solidFill>
              <a:latin typeface="Rubik"/>
              <a:ea typeface="Rubik"/>
              <a:cs typeface="Rubik"/>
              <a:sym typeface="Rubik"/>
            </a:endParaRPr>
          </a:p>
          <a:p>
            <a:pPr indent="-304800" lvl="0" marL="457200" marR="0" rtl="0" algn="l">
              <a:lnSpc>
                <a:spcPct val="150000"/>
              </a:lnSpc>
              <a:spcBef>
                <a:spcPts val="0"/>
              </a:spcBef>
              <a:spcAft>
                <a:spcPts val="0"/>
              </a:spcAft>
              <a:buSzPts val="1200"/>
              <a:buFont typeface="Rubik"/>
              <a:buAutoNum type="arabicPeriod"/>
            </a:pPr>
            <a:r>
              <a:rPr b="1" lang="en" sz="1200">
                <a:solidFill>
                  <a:schemeClr val="dk1"/>
                </a:solidFill>
                <a:latin typeface="Rubik"/>
                <a:ea typeface="Rubik"/>
                <a:cs typeface="Rubik"/>
                <a:sym typeface="Rubik"/>
              </a:rPr>
              <a:t>Setelah upload semua tabel, aku cek struktur, sample data, dan count-nya.</a:t>
            </a:r>
            <a:endParaRPr b="1" sz="1200">
              <a:solidFill>
                <a:schemeClr val="dk1"/>
              </a:solidFill>
              <a:latin typeface="Rubik"/>
              <a:ea typeface="Rubik"/>
              <a:cs typeface="Rubik"/>
              <a:sym typeface="Rubik"/>
            </a:endParaRPr>
          </a:p>
          <a:p>
            <a:pPr indent="-304800" lvl="0" marL="457200" marR="0" rtl="0" algn="l">
              <a:lnSpc>
                <a:spcPct val="150000"/>
              </a:lnSpc>
              <a:spcBef>
                <a:spcPts val="0"/>
              </a:spcBef>
              <a:spcAft>
                <a:spcPts val="0"/>
              </a:spcAft>
              <a:buSzPts val="1200"/>
              <a:buFont typeface="Rubik"/>
              <a:buAutoNum type="arabicPeriod"/>
            </a:pPr>
            <a:r>
              <a:rPr b="1" lang="en" sz="1200">
                <a:solidFill>
                  <a:schemeClr val="dk1"/>
                </a:solidFill>
                <a:latin typeface="Rubik"/>
                <a:ea typeface="Rubik"/>
                <a:cs typeface="Rubik"/>
                <a:sym typeface="Rubik"/>
              </a:rPr>
              <a:t>Baru transaksi di-join jadi satu tabel analisa dengan SQL.</a:t>
            </a:r>
            <a:endParaRPr b="1" sz="1200">
              <a:solidFill>
                <a:schemeClr val="dk1"/>
              </a:solidFill>
              <a:latin typeface="Rubik"/>
              <a:ea typeface="Rubik"/>
              <a:cs typeface="Rubik"/>
              <a:sym typeface="Rubik"/>
            </a:endParaRPr>
          </a:p>
        </p:txBody>
      </p:sp>
      <p:pic>
        <p:nvPicPr>
          <p:cNvPr id="109" name="Google Shape;109;g23ec2985a68_1_33" title="Dataset.png"/>
          <p:cNvPicPr preferRelativeResize="0"/>
          <p:nvPr/>
        </p:nvPicPr>
        <p:blipFill>
          <a:blip r:embed="rId5">
            <a:alphaModFix/>
          </a:blip>
          <a:stretch>
            <a:fillRect/>
          </a:stretch>
        </p:blipFill>
        <p:spPr>
          <a:xfrm>
            <a:off x="877588" y="2259350"/>
            <a:ext cx="7388826" cy="2545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23ec2985a68_1_4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5" name="Google Shape;115;g23ec2985a68_1_4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16" name="Google Shape;116;g23ec2985a68_1_42"/>
          <p:cNvSpPr txBox="1"/>
          <p:nvPr/>
        </p:nvSpPr>
        <p:spPr>
          <a:xfrm>
            <a:off x="340500" y="4520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2"/>
            </a:pPr>
            <a:r>
              <a:rPr b="1" i="0" lang="en" sz="2700" u="none" cap="none" strike="noStrike">
                <a:solidFill>
                  <a:srgbClr val="000000"/>
                </a:solidFill>
                <a:latin typeface="Rubik"/>
                <a:ea typeface="Rubik"/>
                <a:cs typeface="Rubik"/>
                <a:sym typeface="Rubik"/>
              </a:rPr>
              <a:t>Tabel Analisa</a:t>
            </a:r>
            <a:endParaRPr b="1" i="0" sz="2700" u="none" cap="none" strike="noStrike">
              <a:solidFill>
                <a:srgbClr val="000000"/>
              </a:solidFill>
              <a:latin typeface="Rubik"/>
              <a:ea typeface="Rubik"/>
              <a:cs typeface="Rubik"/>
              <a:sym typeface="Rubik"/>
            </a:endParaRPr>
          </a:p>
        </p:txBody>
      </p:sp>
      <p:sp>
        <p:nvSpPr>
          <p:cNvPr id="117" name="Google Shape;117;g23ec2985a68_1_42"/>
          <p:cNvSpPr txBox="1"/>
          <p:nvPr/>
        </p:nvSpPr>
        <p:spPr>
          <a:xfrm>
            <a:off x="340500" y="1294650"/>
            <a:ext cx="4231500" cy="36942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SzPts val="1200"/>
              <a:buFont typeface="Rubik"/>
              <a:buChar char="●"/>
            </a:pPr>
            <a:r>
              <a:rPr b="1" lang="en" sz="1200">
                <a:solidFill>
                  <a:schemeClr val="dk1"/>
                </a:solidFill>
                <a:latin typeface="Rubik"/>
                <a:ea typeface="Rubik"/>
                <a:cs typeface="Rubik"/>
                <a:sym typeface="Rubik"/>
              </a:rPr>
              <a:t>Tabel: </a:t>
            </a:r>
            <a:r>
              <a:rPr b="1" lang="en" sz="1200">
                <a:solidFill>
                  <a:srgbClr val="188038"/>
                </a:solidFill>
                <a:latin typeface="Rubik"/>
                <a:ea typeface="Rubik"/>
                <a:cs typeface="Rubik"/>
                <a:sym typeface="Rubik"/>
              </a:rPr>
              <a:t>kimia_farma.transaction_analysi</a:t>
            </a:r>
            <a:r>
              <a:rPr b="1" lang="en" sz="1200">
                <a:solidFill>
                  <a:srgbClr val="188038"/>
                </a:solidFill>
                <a:latin typeface="Rubik"/>
                <a:ea typeface="Rubik"/>
                <a:cs typeface="Rubik"/>
                <a:sym typeface="Rubik"/>
              </a:rPr>
              <a:t>s</a:t>
            </a:r>
            <a:endParaRPr b="1" sz="1200">
              <a:solidFill>
                <a:srgbClr val="188038"/>
              </a:solidFill>
              <a:latin typeface="Rubik"/>
              <a:ea typeface="Rubik"/>
              <a:cs typeface="Rubik"/>
              <a:sym typeface="Rubik"/>
            </a:endParaRPr>
          </a:p>
          <a:p>
            <a:pPr indent="-304800" lvl="0" marL="457200" marR="0" rtl="0" algn="l">
              <a:lnSpc>
                <a:spcPct val="150000"/>
              </a:lnSpc>
              <a:spcBef>
                <a:spcPts val="0"/>
              </a:spcBef>
              <a:spcAft>
                <a:spcPts val="0"/>
              </a:spcAft>
              <a:buSzPts val="1200"/>
              <a:buFont typeface="Rubik"/>
              <a:buChar char="●"/>
            </a:pPr>
            <a:r>
              <a:rPr b="1" lang="en" sz="1200">
                <a:solidFill>
                  <a:schemeClr val="dk1"/>
                </a:solidFill>
                <a:latin typeface="Rubik"/>
                <a:ea typeface="Rubik"/>
                <a:cs typeface="Rubik"/>
                <a:sym typeface="Rubik"/>
              </a:rPr>
              <a:t>Gabung data transaksi + produk + cabang</a:t>
            </a:r>
            <a:endParaRPr b="1" sz="1200">
              <a:solidFill>
                <a:schemeClr val="dk1"/>
              </a:solidFill>
              <a:latin typeface="Rubik"/>
              <a:ea typeface="Rubik"/>
              <a:cs typeface="Rubik"/>
              <a:sym typeface="Rubik"/>
            </a:endParaRPr>
          </a:p>
          <a:p>
            <a:pPr indent="-304800" lvl="0" marL="457200" marR="0" rtl="0" algn="l">
              <a:lnSpc>
                <a:spcPct val="150000"/>
              </a:lnSpc>
              <a:spcBef>
                <a:spcPts val="0"/>
              </a:spcBef>
              <a:spcAft>
                <a:spcPts val="0"/>
              </a:spcAft>
              <a:buSzPts val="1200"/>
              <a:buFont typeface="Rubik"/>
              <a:buChar char="●"/>
            </a:pPr>
            <a:r>
              <a:rPr b="1" lang="en" sz="1200">
                <a:solidFill>
                  <a:schemeClr val="dk1"/>
                </a:solidFill>
                <a:latin typeface="Rubik"/>
                <a:ea typeface="Rubik"/>
                <a:cs typeface="Rubik"/>
                <a:sym typeface="Rubik"/>
              </a:rPr>
              <a:t>Hitung:</a:t>
            </a:r>
            <a:endParaRPr b="1" sz="1200">
              <a:solidFill>
                <a:schemeClr val="dk1"/>
              </a:solidFill>
              <a:latin typeface="Rubik"/>
              <a:ea typeface="Rubik"/>
              <a:cs typeface="Rubik"/>
              <a:sym typeface="Rubik"/>
            </a:endParaRPr>
          </a:p>
          <a:p>
            <a:pPr indent="0" lvl="0" marL="457200" marR="0" rtl="0" algn="l">
              <a:lnSpc>
                <a:spcPct val="150000"/>
              </a:lnSpc>
              <a:spcBef>
                <a:spcPts val="0"/>
              </a:spcBef>
              <a:spcAft>
                <a:spcPts val="0"/>
              </a:spcAft>
              <a:buNone/>
            </a:pPr>
            <a:r>
              <a:rPr b="1" lang="en" sz="1200">
                <a:solidFill>
                  <a:schemeClr val="dk1"/>
                </a:solidFill>
                <a:latin typeface="Rubik"/>
                <a:ea typeface="Rubik"/>
                <a:cs typeface="Rubik"/>
                <a:sym typeface="Rubik"/>
              </a:rPr>
              <a:t>1.  </a:t>
            </a:r>
            <a:r>
              <a:rPr b="1" lang="en" sz="1200">
                <a:solidFill>
                  <a:schemeClr val="dk1"/>
                </a:solidFill>
                <a:latin typeface="Rubik"/>
                <a:ea typeface="Rubik"/>
                <a:cs typeface="Rubik"/>
                <a:sym typeface="Rubik"/>
              </a:rPr>
              <a:t>Nett Sales</a:t>
            </a:r>
            <a:br>
              <a:rPr b="1" lang="en" sz="1200">
                <a:solidFill>
                  <a:schemeClr val="dk1"/>
                </a:solidFill>
                <a:latin typeface="Rubik"/>
                <a:ea typeface="Rubik"/>
                <a:cs typeface="Rubik"/>
                <a:sym typeface="Rubik"/>
              </a:rPr>
            </a:br>
            <a:r>
              <a:rPr b="1" lang="en" sz="1200">
                <a:solidFill>
                  <a:schemeClr val="dk1"/>
                </a:solidFill>
                <a:latin typeface="Rubik"/>
                <a:ea typeface="Rubik"/>
                <a:cs typeface="Rubik"/>
                <a:sym typeface="Rubik"/>
              </a:rPr>
              <a:t>2. Persentase Laba</a:t>
            </a:r>
            <a:br>
              <a:rPr b="1" lang="en" sz="1200">
                <a:solidFill>
                  <a:schemeClr val="dk1"/>
                </a:solidFill>
                <a:latin typeface="Rubik"/>
                <a:ea typeface="Rubik"/>
                <a:cs typeface="Rubik"/>
                <a:sym typeface="Rubik"/>
              </a:rPr>
            </a:br>
            <a:r>
              <a:rPr b="1" lang="en" sz="1200">
                <a:solidFill>
                  <a:schemeClr val="dk1"/>
                </a:solidFill>
                <a:latin typeface="Rubik"/>
                <a:ea typeface="Rubik"/>
                <a:cs typeface="Rubik"/>
                <a:sym typeface="Rubik"/>
              </a:rPr>
              <a:t>3. Nett Profit</a:t>
            </a:r>
            <a:endParaRPr b="1" sz="1200">
              <a:solidFill>
                <a:schemeClr val="dk1"/>
              </a:solidFill>
              <a:latin typeface="Rubik"/>
              <a:ea typeface="Rubik"/>
              <a:cs typeface="Rubik"/>
              <a:sym typeface="Rubik"/>
            </a:endParaRPr>
          </a:p>
          <a:p>
            <a:pPr indent="0" lvl="0" marL="457200" marR="0" rtl="0" algn="l">
              <a:lnSpc>
                <a:spcPct val="150000"/>
              </a:lnSpc>
              <a:spcBef>
                <a:spcPts val="0"/>
              </a:spcBef>
              <a:spcAft>
                <a:spcPts val="0"/>
              </a:spcAft>
              <a:buNone/>
            </a:pPr>
            <a:r>
              <a:t/>
            </a:r>
            <a:endParaRPr b="1" sz="1200">
              <a:solidFill>
                <a:schemeClr val="dk1"/>
              </a:solidFill>
              <a:latin typeface="Rubik"/>
              <a:ea typeface="Rubik"/>
              <a:cs typeface="Rubik"/>
              <a:sym typeface="Rubik"/>
            </a:endParaRPr>
          </a:p>
          <a:p>
            <a:pPr indent="0" lvl="0" marL="0" marR="0" rtl="0" algn="l">
              <a:lnSpc>
                <a:spcPct val="150000"/>
              </a:lnSpc>
              <a:spcBef>
                <a:spcPts val="0"/>
              </a:spcBef>
              <a:spcAft>
                <a:spcPts val="0"/>
              </a:spcAft>
              <a:buNone/>
            </a:pPr>
            <a:r>
              <a:rPr b="1" lang="en" sz="1200">
                <a:solidFill>
                  <a:schemeClr val="dk1"/>
                </a:solidFill>
                <a:latin typeface="Rubik"/>
                <a:ea typeface="Rubik"/>
                <a:cs typeface="Rubik"/>
                <a:sym typeface="Rubik"/>
              </a:rPr>
              <a:t>Ini tabel inti buat analisisnya. Intinya aku join empat tabel untuk bikin satu data mart lengkap. Di sini aku juga hitung nett sales dan nett profit berdasarkan ketentuan margin harga. Jadi final table-nya siap dipakai buat dashboard dan query insight lain.</a:t>
            </a:r>
            <a:endParaRPr b="1" sz="1200">
              <a:solidFill>
                <a:schemeClr val="dk1"/>
              </a:solidFill>
              <a:latin typeface="Rubik"/>
              <a:ea typeface="Rubik"/>
              <a:cs typeface="Rubik"/>
              <a:sym typeface="Rubik"/>
            </a:endParaRPr>
          </a:p>
          <a:p>
            <a:pPr indent="0" lvl="0" marL="0" marR="0" rtl="0" algn="l">
              <a:lnSpc>
                <a:spcPct val="150000"/>
              </a:lnSpc>
              <a:spcBef>
                <a:spcPts val="0"/>
              </a:spcBef>
              <a:spcAft>
                <a:spcPts val="0"/>
              </a:spcAft>
              <a:buClr>
                <a:schemeClr val="dk1"/>
              </a:buClr>
              <a:buSzPts val="1400"/>
              <a:buFont typeface="Arial"/>
              <a:buNone/>
            </a:pPr>
            <a:r>
              <a:t/>
            </a:r>
            <a:endParaRPr b="1" sz="1200">
              <a:solidFill>
                <a:schemeClr val="dk1"/>
              </a:solidFill>
              <a:latin typeface="Rubik"/>
              <a:ea typeface="Rubik"/>
              <a:cs typeface="Rubik"/>
              <a:sym typeface="Rubik"/>
            </a:endParaRPr>
          </a:p>
        </p:txBody>
      </p:sp>
      <p:pic>
        <p:nvPicPr>
          <p:cNvPr id="118" name="Google Shape;118;g23ec2985a68_1_42" title="image_2025-11-03_21-21-37.png"/>
          <p:cNvPicPr preferRelativeResize="0"/>
          <p:nvPr/>
        </p:nvPicPr>
        <p:blipFill>
          <a:blip r:embed="rId5">
            <a:alphaModFix/>
          </a:blip>
          <a:stretch>
            <a:fillRect/>
          </a:stretch>
        </p:blipFill>
        <p:spPr>
          <a:xfrm>
            <a:off x="5192225" y="956475"/>
            <a:ext cx="3303050" cy="4032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g23ec2985a68_1_4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24" name="Google Shape;124;g23ec2985a68_1_4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25" name="Google Shape;125;g23ec2985a68_1_49"/>
          <p:cNvSpPr txBox="1"/>
          <p:nvPr/>
        </p:nvSpPr>
        <p:spPr>
          <a:xfrm>
            <a:off x="340500" y="4520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3"/>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sp>
        <p:nvSpPr>
          <p:cNvPr id="126" name="Google Shape;126;g23ec2985a68_1_49"/>
          <p:cNvSpPr txBox="1"/>
          <p:nvPr/>
        </p:nvSpPr>
        <p:spPr>
          <a:xfrm>
            <a:off x="340500" y="1335950"/>
            <a:ext cx="3425700" cy="31401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400"/>
              <a:buFont typeface="Arial"/>
              <a:buNone/>
            </a:pPr>
            <a:r>
              <a:rPr b="1" lang="en" sz="1200">
                <a:solidFill>
                  <a:schemeClr val="dk1"/>
                </a:solidFill>
                <a:latin typeface="Rubik"/>
                <a:ea typeface="Rubik"/>
                <a:cs typeface="Rubik"/>
                <a:sym typeface="Rubik"/>
              </a:rPr>
              <a:t>SQL aku bagi dua — satu khusus buat bikin data mart, dan satu lagi buat query insight yang nanti dipakai juga buat dashboard. Query-nya mencakup tren penjualan per tahun, ranking cabang per provinsi, sampai ngecek gap antara rating cabang dan rating transaksi.</a:t>
            </a:r>
            <a:endParaRPr b="1" sz="1200">
              <a:solidFill>
                <a:schemeClr val="dk1"/>
              </a:solidFill>
              <a:latin typeface="Rubik"/>
              <a:ea typeface="Rubik"/>
              <a:cs typeface="Rubik"/>
              <a:sym typeface="Rubik"/>
            </a:endParaRPr>
          </a:p>
          <a:p>
            <a:pPr indent="0" lvl="0" marL="0" marR="0" rtl="0" algn="l">
              <a:lnSpc>
                <a:spcPct val="150000"/>
              </a:lnSpc>
              <a:spcBef>
                <a:spcPts val="0"/>
              </a:spcBef>
              <a:spcAft>
                <a:spcPts val="0"/>
              </a:spcAft>
              <a:buClr>
                <a:schemeClr val="dk1"/>
              </a:buClr>
              <a:buSzPts val="1400"/>
              <a:buFont typeface="Arial"/>
              <a:buNone/>
            </a:pPr>
            <a:r>
              <a:t/>
            </a:r>
            <a:endParaRPr b="1" sz="12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Rubik"/>
                <a:ea typeface="Rubik"/>
                <a:cs typeface="Rubik"/>
                <a:sym typeface="Rubik"/>
              </a:rPr>
              <a:t>File SQL:</a:t>
            </a:r>
            <a:endParaRPr b="1" sz="1200">
              <a:solidFill>
                <a:schemeClr val="dk1"/>
              </a:solidFill>
              <a:latin typeface="Rubik"/>
              <a:ea typeface="Rubik"/>
              <a:cs typeface="Rubik"/>
              <a:sym typeface="Rubik"/>
            </a:endParaRPr>
          </a:p>
          <a:p>
            <a:pPr indent="0" lvl="0" marL="0" rtl="0" algn="l">
              <a:lnSpc>
                <a:spcPct val="150000"/>
              </a:lnSpc>
              <a:spcBef>
                <a:spcPts val="0"/>
              </a:spcBef>
              <a:spcAft>
                <a:spcPts val="0"/>
              </a:spcAft>
              <a:buClr>
                <a:schemeClr val="dk1"/>
              </a:buClr>
              <a:buSzPts val="1100"/>
              <a:buFont typeface="Arial"/>
              <a:buNone/>
            </a:pPr>
            <a:r>
              <a:rPr b="1" lang="en" sz="1200">
                <a:solidFill>
                  <a:srgbClr val="188038"/>
                </a:solidFill>
                <a:latin typeface="Rubik"/>
                <a:ea typeface="Rubik"/>
                <a:cs typeface="Rubik"/>
                <a:sym typeface="Rubik"/>
              </a:rPr>
              <a:t>create_analysis_table.sql</a:t>
            </a:r>
            <a:endParaRPr b="1" sz="1200">
              <a:solidFill>
                <a:srgbClr val="188038"/>
              </a:solidFill>
              <a:latin typeface="Rubik"/>
              <a:ea typeface="Rubik"/>
              <a:cs typeface="Rubik"/>
              <a:sym typeface="Rubik"/>
            </a:endParaRPr>
          </a:p>
          <a:p>
            <a:pPr indent="0" lvl="0" marL="0" marR="0" rtl="0" algn="l">
              <a:lnSpc>
                <a:spcPct val="150000"/>
              </a:lnSpc>
              <a:spcBef>
                <a:spcPts val="0"/>
              </a:spcBef>
              <a:spcAft>
                <a:spcPts val="0"/>
              </a:spcAft>
              <a:buClr>
                <a:schemeClr val="dk1"/>
              </a:buClr>
              <a:buSzPts val="1400"/>
              <a:buFont typeface="Arial"/>
              <a:buNone/>
            </a:pPr>
            <a:r>
              <a:rPr b="1" lang="en" sz="1200">
                <a:solidFill>
                  <a:srgbClr val="188038"/>
                </a:solidFill>
                <a:latin typeface="Rubik"/>
                <a:ea typeface="Rubik"/>
                <a:cs typeface="Rubik"/>
                <a:sym typeface="Rubik"/>
              </a:rPr>
              <a:t>analysis_insight_queries.sql</a:t>
            </a:r>
            <a:endParaRPr b="1" sz="1300">
              <a:solidFill>
                <a:schemeClr val="dk1"/>
              </a:solidFill>
              <a:latin typeface="Rubik"/>
              <a:ea typeface="Rubik"/>
              <a:cs typeface="Rubik"/>
              <a:sym typeface="Rubik"/>
            </a:endParaRPr>
          </a:p>
        </p:txBody>
      </p:sp>
      <p:pic>
        <p:nvPicPr>
          <p:cNvPr id="127" name="Google Shape;127;g23ec2985a68_1_49" title="new2.png"/>
          <p:cNvPicPr preferRelativeResize="0"/>
          <p:nvPr/>
        </p:nvPicPr>
        <p:blipFill rotWithShape="1">
          <a:blip r:embed="rId5">
            <a:alphaModFix/>
          </a:blip>
          <a:srcRect b="5217" l="7115" r="6424" t="4975"/>
          <a:stretch/>
        </p:blipFill>
        <p:spPr>
          <a:xfrm>
            <a:off x="6349025" y="1335950"/>
            <a:ext cx="2684450" cy="3579250"/>
          </a:xfrm>
          <a:prstGeom prst="rect">
            <a:avLst/>
          </a:prstGeom>
          <a:noFill/>
          <a:ln>
            <a:noFill/>
          </a:ln>
        </p:spPr>
      </p:pic>
      <p:pic>
        <p:nvPicPr>
          <p:cNvPr id="128" name="Google Shape;128;g23ec2985a68_1_49" title="new1.png"/>
          <p:cNvPicPr preferRelativeResize="0"/>
          <p:nvPr/>
        </p:nvPicPr>
        <p:blipFill rotWithShape="1">
          <a:blip r:embed="rId6">
            <a:alphaModFix/>
          </a:blip>
          <a:srcRect b="3796" l="6736" r="7115" t="3602"/>
          <a:stretch/>
        </p:blipFill>
        <p:spPr>
          <a:xfrm>
            <a:off x="3977238" y="634912"/>
            <a:ext cx="2310825" cy="4314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g23ec2985a68_1_5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34" name="Google Shape;134;g23ec2985a68_1_5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5" name="Google Shape;135;g23ec2985a68_1_56"/>
          <p:cNvSpPr txBox="1"/>
          <p:nvPr/>
        </p:nvSpPr>
        <p:spPr>
          <a:xfrm>
            <a:off x="340500" y="452038"/>
            <a:ext cx="8463000" cy="6003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400050" lvl="0" marL="457200" marR="0" rtl="0" algn="l">
              <a:lnSpc>
                <a:spcPct val="100000"/>
              </a:lnSpc>
              <a:spcBef>
                <a:spcPts val="0"/>
              </a:spcBef>
              <a:spcAft>
                <a:spcPts val="0"/>
              </a:spcAft>
              <a:buClr>
                <a:srgbClr val="000000"/>
              </a:buClr>
              <a:buSzPts val="2700"/>
              <a:buFont typeface="Rubik"/>
              <a:buAutoNum type="arabicPeriod" startAt="4"/>
            </a:pPr>
            <a:r>
              <a:rPr b="1" i="0" lang="en" sz="2700" u="none" cap="none" strike="noStrike">
                <a:solidFill>
                  <a:srgbClr val="000000"/>
                </a:solidFill>
                <a:latin typeface="Rubik"/>
                <a:ea typeface="Rubik"/>
                <a:cs typeface="Rubik"/>
                <a:sym typeface="Rubik"/>
              </a:rPr>
              <a:t>Dashboard  Performance Analytics</a:t>
            </a:r>
            <a:endParaRPr b="1" i="0" sz="2700" u="none" cap="none" strike="noStrike">
              <a:solidFill>
                <a:srgbClr val="000000"/>
              </a:solidFill>
              <a:latin typeface="Rubik"/>
              <a:ea typeface="Rubik"/>
              <a:cs typeface="Rubik"/>
              <a:sym typeface="Rubik"/>
            </a:endParaRPr>
          </a:p>
        </p:txBody>
      </p:sp>
      <p:sp>
        <p:nvSpPr>
          <p:cNvPr id="136" name="Google Shape;136;g23ec2985a68_1_56"/>
          <p:cNvSpPr txBox="1"/>
          <p:nvPr/>
        </p:nvSpPr>
        <p:spPr>
          <a:xfrm>
            <a:off x="340500" y="1335950"/>
            <a:ext cx="3742500" cy="3204600"/>
          </a:xfrm>
          <a:prstGeom prst="rect">
            <a:avLst/>
          </a:prstGeom>
          <a:noFill/>
          <a:ln>
            <a:noFill/>
          </a:ln>
          <a:effectLst>
            <a:outerShdw blurRad="57150" rotWithShape="0" algn="bl" dir="2820000" dist="19050">
              <a:srgbClr val="B7B7B7">
                <a:alpha val="85098"/>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ubik"/>
                <a:ea typeface="Rubik"/>
                <a:cs typeface="Rubik"/>
                <a:sym typeface="Rubik"/>
              </a:rPr>
              <a:t>Setelah datanya siap, aku bikin dashboard interaktif di Looker Studio. Ada KPI utama, grafik YoY, ranking provinsi, sampai geo-map profit biar keliatan performa regional-nya.</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u="sng">
                <a:solidFill>
                  <a:schemeClr val="hlink"/>
                </a:solidFill>
                <a:latin typeface="Rubik"/>
                <a:ea typeface="Rubik"/>
                <a:cs typeface="Rubik"/>
                <a:sym typeface="Rubik"/>
                <a:hlinkClick r:id="rId5"/>
              </a:rPr>
              <a:t>Dashboard Link</a:t>
            </a:r>
            <a:r>
              <a:rPr b="1" lang="en" sz="1200">
                <a:solidFill>
                  <a:schemeClr val="dk1"/>
                </a:solidFill>
                <a:latin typeface="Rubik"/>
                <a:ea typeface="Rubik"/>
                <a:cs typeface="Rubik"/>
                <a:sym typeface="Rubik"/>
              </a:rPr>
              <a:t> Ini isi dashboardnya:</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ubik"/>
                <a:ea typeface="Rubik"/>
                <a:cs typeface="Rubik"/>
                <a:sym typeface="Rubik"/>
              </a:rPr>
              <a:t>✅ KPI scorecard (Sales, Profit, Rating)</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ubik"/>
                <a:ea typeface="Rubik"/>
                <a:cs typeface="Rubik"/>
                <a:sym typeface="Rubik"/>
              </a:rPr>
              <a:t>✅ Time series trend</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ubik"/>
                <a:ea typeface="Rubik"/>
                <a:cs typeface="Rubik"/>
                <a:sym typeface="Rubik"/>
              </a:rPr>
              <a:t>✅ Top 10 cabang</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Rubik"/>
                <a:ea typeface="Rubik"/>
                <a:cs typeface="Rubik"/>
                <a:sym typeface="Rubik"/>
              </a:rPr>
              <a:t>✅ Geo map profit</a:t>
            </a:r>
            <a:endParaRPr b="1" sz="1200">
              <a:solidFill>
                <a:schemeClr val="dk1"/>
              </a:solidFill>
              <a:latin typeface="Rubik"/>
              <a:ea typeface="Rubik"/>
              <a:cs typeface="Rubik"/>
              <a:sym typeface="Rubik"/>
            </a:endParaRPr>
          </a:p>
          <a:p>
            <a:pPr indent="0" lvl="0" marL="0" rtl="0" algn="l">
              <a:lnSpc>
                <a:spcPct val="115000"/>
              </a:lnSpc>
              <a:spcBef>
                <a:spcPts val="1200"/>
              </a:spcBef>
              <a:spcAft>
                <a:spcPts val="1200"/>
              </a:spcAft>
              <a:buClr>
                <a:schemeClr val="dk1"/>
              </a:buClr>
              <a:buSzPts val="1100"/>
              <a:buFont typeface="Arial"/>
              <a:buNone/>
            </a:pPr>
            <a:r>
              <a:rPr b="1" lang="en" sz="1200">
                <a:solidFill>
                  <a:schemeClr val="dk1"/>
                </a:solidFill>
                <a:latin typeface="Rubik"/>
                <a:ea typeface="Rubik"/>
                <a:cs typeface="Rubik"/>
                <a:sym typeface="Rubik"/>
              </a:rPr>
              <a:t>✅ Filter interaktif</a:t>
            </a:r>
            <a:endParaRPr b="1" sz="1200">
              <a:solidFill>
                <a:schemeClr val="dk1"/>
              </a:solidFill>
              <a:latin typeface="Rubik"/>
              <a:ea typeface="Rubik"/>
              <a:cs typeface="Rubik"/>
              <a:sym typeface="Rubik"/>
            </a:endParaRPr>
          </a:p>
        </p:txBody>
      </p:sp>
      <p:pic>
        <p:nvPicPr>
          <p:cNvPr id="137" name="Google Shape;137;g23ec2985a68_1_56" title="Dashboard Preview.png"/>
          <p:cNvPicPr preferRelativeResize="0"/>
          <p:nvPr/>
        </p:nvPicPr>
        <p:blipFill>
          <a:blip r:embed="rId6">
            <a:alphaModFix/>
          </a:blip>
          <a:stretch>
            <a:fillRect/>
          </a:stretch>
        </p:blipFill>
        <p:spPr>
          <a:xfrm>
            <a:off x="4031725" y="1214275"/>
            <a:ext cx="4888124" cy="3673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141" name="Shape 141"/>
        <p:cNvGrpSpPr/>
        <p:nvPr/>
      </p:nvGrpSpPr>
      <p:grpSpPr>
        <a:xfrm>
          <a:off x="0" y="0"/>
          <a:ext cx="0" cy="0"/>
          <a:chOff x="0" y="0"/>
          <a:chExt cx="0" cy="0"/>
        </a:xfrm>
      </p:grpSpPr>
      <p:pic>
        <p:nvPicPr>
          <p:cNvPr id="142" name="Google Shape;142;p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43" name="Google Shape;143;p8"/>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144" name="Google Shape;144;p8"/>
          <p:cNvSpPr txBox="1"/>
          <p:nvPr/>
        </p:nvSpPr>
        <p:spPr>
          <a:xfrm>
            <a:off x="2376000" y="1939850"/>
            <a:ext cx="4392000" cy="877200"/>
          </a:xfrm>
          <a:prstGeom prst="rect">
            <a:avLst/>
          </a:prstGeom>
          <a:noFill/>
          <a:ln>
            <a:noFill/>
          </a:ln>
          <a:effectLst>
            <a:outerShdw blurRad="57150" rotWithShape="0" algn="bl" dir="5400000" dist="19050">
              <a:srgbClr val="000000">
                <a:alpha val="49019"/>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ubik"/>
                <a:ea typeface="Rubik"/>
                <a:cs typeface="Rubik"/>
                <a:sym typeface="Rubik"/>
              </a:rPr>
              <a:t>Thank You</a:t>
            </a:r>
            <a:endParaRPr b="0" i="0" sz="2000" u="none" cap="none" strike="noStrike">
              <a:solidFill>
                <a:schemeClr val="lt1"/>
              </a:solidFill>
              <a:latin typeface="Rubik"/>
              <a:ea typeface="Rubik"/>
              <a:cs typeface="Rubik"/>
              <a:sym typeface="Rubik"/>
            </a:endParaRPr>
          </a:p>
        </p:txBody>
      </p:sp>
      <p:sp>
        <p:nvSpPr>
          <p:cNvPr id="145" name="Google Shape;145;p8"/>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146" name="Google Shape;146;p8"/>
          <p:cNvSpPr/>
          <p:nvPr/>
        </p:nvSpPr>
        <p:spPr>
          <a:xfrm>
            <a:off x="4871775" y="4301225"/>
            <a:ext cx="1538100" cy="5412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Rubik Medium"/>
                <a:ea typeface="Rubik Medium"/>
                <a:cs typeface="Rubik Medium"/>
                <a:sym typeface="Rubik Medium"/>
              </a:rPr>
              <a:t>Logo Company</a:t>
            </a:r>
            <a:endParaRPr b="0" i="0" sz="1400" u="none" cap="none" strike="noStrike">
              <a:solidFill>
                <a:schemeClr val="lt1"/>
              </a:solidFill>
              <a:latin typeface="Rubik Medium"/>
              <a:ea typeface="Rubik Medium"/>
              <a:cs typeface="Rubik Medium"/>
              <a:sym typeface="Rubik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